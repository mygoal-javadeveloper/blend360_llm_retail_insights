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Retail Insights Assistant — Local LLM Architecture</a:t>
            </a:r>
            <a:endParaRPr lang="en-IN" dirty="0"/>
          </a:p>
          <a:p>
            <a:r>
              <a:rPr lang="en-IN" dirty="0"/>
              <a:t>Powered by a local Mistral model using Ollama</a:t>
            </a:r>
          </a:p>
          <a:p>
            <a:r>
              <a:rPr lang="en-IN" dirty="0"/>
              <a:t>Supports two modes:</a:t>
            </a:r>
          </a:p>
          <a:p>
            <a:pPr lvl="1"/>
            <a:r>
              <a:rPr lang="en-IN" b="1" dirty="0"/>
              <a:t>Dataset Summarization Mode</a:t>
            </a:r>
            <a:endParaRPr lang="en-IN" dirty="0"/>
          </a:p>
          <a:p>
            <a:pPr lvl="1"/>
            <a:r>
              <a:rPr lang="en-IN" b="1" dirty="0"/>
              <a:t>Conversational SQL Q&amp;A Mode</a:t>
            </a:r>
            <a:endParaRPr lang="en-IN" dirty="0"/>
          </a:p>
          <a:p>
            <a:r>
              <a:rPr lang="en-IN" dirty="0"/>
              <a:t>Ingests and cleans large, inconsistent retail CSV files</a:t>
            </a:r>
          </a:p>
          <a:p>
            <a:r>
              <a:rPr lang="en-IN" dirty="0"/>
              <a:t>Loads all cleaned data into </a:t>
            </a:r>
            <a:r>
              <a:rPr lang="en-IN" b="1" dirty="0" err="1"/>
              <a:t>DuckDB</a:t>
            </a:r>
            <a:endParaRPr lang="en-IN" dirty="0"/>
          </a:p>
          <a:p>
            <a:r>
              <a:rPr lang="en-IN" dirty="0"/>
              <a:t>Uses multi-agent architecture for SQL generation, validation, and execution</a:t>
            </a:r>
          </a:p>
          <a:p>
            <a:r>
              <a:rPr lang="en-IN" dirty="0"/>
              <a:t>Ensures fast and reliable data analytics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CSV Ingestion &amp; Cleaning</a:t>
            </a:r>
            <a:endParaRPr lang="en-US" dirty="0"/>
          </a:p>
          <a:p>
            <a:r>
              <a:rPr lang="en-US" dirty="0"/>
              <a:t>Multi-strategy CSV reading for inconsistent datasets</a:t>
            </a:r>
          </a:p>
          <a:p>
            <a:r>
              <a:rPr lang="en-US" dirty="0"/>
              <a:t>Filename and column name normalization</a:t>
            </a:r>
          </a:p>
          <a:p>
            <a:r>
              <a:rPr lang="en-US" dirty="0"/>
              <a:t>Cleaning rules applied to:</a:t>
            </a:r>
          </a:p>
          <a:p>
            <a:pPr lvl="1"/>
            <a:r>
              <a:rPr lang="en-US" b="1" dirty="0"/>
              <a:t>Status</a:t>
            </a:r>
            <a:r>
              <a:rPr lang="en-US" dirty="0"/>
              <a:t> (mapped to shipped/cancelled/returned)</a:t>
            </a:r>
          </a:p>
          <a:p>
            <a:pPr lvl="1"/>
            <a:r>
              <a:rPr lang="en-US" b="1" dirty="0"/>
              <a:t>Amount</a:t>
            </a:r>
            <a:r>
              <a:rPr lang="en-US" dirty="0"/>
              <a:t> (converted to numeric)</a:t>
            </a:r>
          </a:p>
          <a:p>
            <a:pPr lvl="1"/>
            <a:r>
              <a:rPr lang="en-US" b="1" dirty="0"/>
              <a:t>Quantity</a:t>
            </a:r>
            <a:r>
              <a:rPr lang="en-US" dirty="0"/>
              <a:t> (converted to integer)</a:t>
            </a:r>
          </a:p>
          <a:p>
            <a:pPr lvl="1"/>
            <a:r>
              <a:rPr lang="en-US" b="1" dirty="0"/>
              <a:t>Dates</a:t>
            </a:r>
            <a:r>
              <a:rPr lang="en-US" dirty="0"/>
              <a:t> (standardized formats)</a:t>
            </a:r>
          </a:p>
          <a:p>
            <a:r>
              <a:rPr lang="en-US" dirty="0"/>
              <a:t>Cleaned CSVs are saved and ready for processing</a:t>
            </a:r>
          </a:p>
          <a:p>
            <a:r>
              <a:rPr lang="en-US" b="1" dirty="0" err="1"/>
              <a:t>DuckDB</a:t>
            </a:r>
            <a:r>
              <a:rPr lang="en-US" b="1" dirty="0"/>
              <a:t> Integration</a:t>
            </a:r>
            <a:endParaRPr lang="en-US" dirty="0"/>
          </a:p>
          <a:p>
            <a:r>
              <a:rPr lang="en-US" dirty="0"/>
              <a:t>Each cleaned CSV becomes a </a:t>
            </a:r>
            <a:r>
              <a:rPr lang="en-US" dirty="0" err="1"/>
              <a:t>DuckDB</a:t>
            </a:r>
            <a:r>
              <a:rPr lang="en-US" dirty="0"/>
              <a:t> table</a:t>
            </a:r>
          </a:p>
          <a:p>
            <a:r>
              <a:rPr lang="en-US" dirty="0"/>
              <a:t>Two unified structures created:</a:t>
            </a:r>
          </a:p>
          <a:p>
            <a:pPr lvl="1"/>
            <a:r>
              <a:rPr lang="en-US" b="1" dirty="0"/>
              <a:t>Each csv table </a:t>
            </a:r>
            <a:endParaRPr lang="en-US" dirty="0"/>
          </a:p>
          <a:p>
            <a:pPr lvl="1"/>
            <a:r>
              <a:rPr lang="en-US" b="1" dirty="0" err="1"/>
              <a:t>master_sales</a:t>
            </a:r>
            <a:r>
              <a:rPr lang="en-US" b="1" dirty="0"/>
              <a:t> table</a:t>
            </a:r>
            <a:r>
              <a:rPr lang="en-US" dirty="0"/>
              <a:t> (merging compatible sales tables)</a:t>
            </a:r>
          </a:p>
          <a:p>
            <a:r>
              <a:rPr lang="en-US" dirty="0"/>
              <a:t>Ensures consistent analytics across multiple files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Summarization Mode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/>
              <a:t>Purpose:</a:t>
            </a:r>
            <a:br>
              <a:rPr lang="en-IN" sz="6400" dirty="0"/>
            </a:br>
            <a:r>
              <a:rPr lang="en-IN" sz="6400" dirty="0"/>
              <a:t>Provide a deep, narrative-style understanding of the dataset.</a:t>
            </a:r>
          </a:p>
          <a:p>
            <a:r>
              <a:rPr lang="en-IN" sz="6400" b="1" dirty="0"/>
              <a:t>Summarization Workflow</a:t>
            </a:r>
            <a:endParaRPr lang="en-IN" sz="6400" dirty="0"/>
          </a:p>
          <a:p>
            <a:r>
              <a:rPr lang="en-IN" sz="6400" dirty="0"/>
              <a:t>User selects a table</a:t>
            </a:r>
          </a:p>
          <a:p>
            <a:r>
              <a:rPr lang="en-IN" sz="6400" dirty="0"/>
              <a:t>System retrieves data from </a:t>
            </a:r>
            <a:r>
              <a:rPr lang="en-IN" sz="6400" dirty="0" err="1"/>
              <a:t>DuckDB</a:t>
            </a:r>
            <a:endParaRPr lang="en-IN" sz="6400" dirty="0"/>
          </a:p>
          <a:p>
            <a:r>
              <a:rPr lang="en-IN" sz="6400" dirty="0"/>
              <a:t>Python computes insights:</a:t>
            </a:r>
          </a:p>
          <a:p>
            <a:pPr lvl="1"/>
            <a:r>
              <a:rPr lang="en-IN" sz="6400" dirty="0"/>
              <a:t>Total rows</a:t>
            </a:r>
          </a:p>
          <a:p>
            <a:pPr lvl="1"/>
            <a:r>
              <a:rPr lang="en-IN" sz="6400" dirty="0"/>
              <a:t>Data types</a:t>
            </a:r>
          </a:p>
          <a:p>
            <a:pPr lvl="1"/>
            <a:r>
              <a:rPr lang="en-IN" sz="6400" dirty="0"/>
              <a:t>High-variance numeric columns</a:t>
            </a:r>
          </a:p>
          <a:p>
            <a:pPr lvl="1"/>
            <a:r>
              <a:rPr lang="en-IN" sz="6400" dirty="0"/>
              <a:t>High-uniqueness categorical columns</a:t>
            </a:r>
          </a:p>
          <a:p>
            <a:pPr lvl="1"/>
            <a:r>
              <a:rPr lang="en-IN" sz="6400" dirty="0"/>
              <a:t>Statistical summaries</a:t>
            </a:r>
          </a:p>
          <a:p>
            <a:r>
              <a:rPr lang="en-IN" sz="6400" dirty="0"/>
              <a:t>This metadata is fed into the Mistral LLM</a:t>
            </a:r>
          </a:p>
          <a:p>
            <a:r>
              <a:rPr lang="en-IN" sz="6400" dirty="0"/>
              <a:t>The LLM generates:</a:t>
            </a:r>
          </a:p>
          <a:p>
            <a:pPr lvl="1"/>
            <a:r>
              <a:rPr lang="en-IN" sz="6400" dirty="0"/>
              <a:t>Column-level insights</a:t>
            </a:r>
          </a:p>
          <a:p>
            <a:pPr lvl="1"/>
            <a:r>
              <a:rPr lang="en-IN" sz="6400" dirty="0"/>
              <a:t>Patterns and trends</a:t>
            </a:r>
          </a:p>
          <a:p>
            <a:pPr lvl="1"/>
            <a:r>
              <a:rPr lang="en-IN" sz="6400" dirty="0"/>
              <a:t>Anomalies</a:t>
            </a:r>
          </a:p>
          <a:p>
            <a:pPr lvl="1"/>
            <a:r>
              <a:rPr lang="en-IN" sz="6400" dirty="0"/>
              <a:t>Business interpretations</a:t>
            </a:r>
          </a:p>
          <a:p>
            <a:pPr lvl="1"/>
            <a:r>
              <a:rPr lang="en-IN" sz="6400" dirty="0"/>
              <a:t>Data quality issues</a:t>
            </a:r>
          </a:p>
          <a:p>
            <a:r>
              <a:rPr lang="en-IN" sz="6400" b="1" dirty="0"/>
              <a:t>Output:</a:t>
            </a:r>
            <a:br>
              <a:rPr lang="en-IN" sz="6400" dirty="0"/>
            </a:br>
            <a:r>
              <a:rPr lang="en-IN" sz="6400" dirty="0"/>
              <a:t>A structured, human-readable dataset summary.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Conversational Q&amp;A Mode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sz="3400" b="1" dirty="0"/>
              <a:t>Goal:</a:t>
            </a:r>
            <a:br>
              <a:rPr lang="en-IN" sz="3400" dirty="0"/>
            </a:br>
            <a:r>
              <a:rPr lang="en-IN" sz="3400" dirty="0"/>
              <a:t>Convert natural language questions into SQL and return results.</a:t>
            </a:r>
          </a:p>
          <a:p>
            <a:r>
              <a:rPr lang="en-IN" sz="3400" b="1" dirty="0"/>
              <a:t>Pipeline</a:t>
            </a:r>
            <a:endParaRPr lang="en-IN" sz="3400" dirty="0"/>
          </a:p>
          <a:p>
            <a:r>
              <a:rPr lang="en-IN" sz="3400" b="1" dirty="0"/>
              <a:t>1. </a:t>
            </a:r>
            <a:r>
              <a:rPr lang="en-IN" sz="3400" b="1" dirty="0" err="1"/>
              <a:t>LanguageToSQLAgent</a:t>
            </a:r>
            <a:endParaRPr lang="en-IN" sz="3400" dirty="0"/>
          </a:p>
          <a:p>
            <a:r>
              <a:rPr lang="en-IN" sz="3400" dirty="0"/>
              <a:t>Converts user questions to SQL using Mistral</a:t>
            </a:r>
          </a:p>
          <a:p>
            <a:r>
              <a:rPr lang="en-IN" sz="3400" dirty="0"/>
              <a:t>Uses real table schema</a:t>
            </a:r>
          </a:p>
          <a:p>
            <a:r>
              <a:rPr lang="en-IN" sz="3400" dirty="0"/>
              <a:t>Generates safe, schema-correct </a:t>
            </a:r>
            <a:r>
              <a:rPr lang="en-IN" sz="3400" dirty="0" err="1"/>
              <a:t>DuckDB</a:t>
            </a:r>
            <a:r>
              <a:rPr lang="en-IN" sz="3400" dirty="0"/>
              <a:t> SQL</a:t>
            </a:r>
          </a:p>
          <a:p>
            <a:r>
              <a:rPr lang="en-IN" sz="3400" b="1" dirty="0"/>
              <a:t>2. </a:t>
            </a:r>
            <a:r>
              <a:rPr lang="en-IN" sz="3400" b="1" dirty="0" err="1"/>
              <a:t>ValidationAgent</a:t>
            </a:r>
            <a:endParaRPr lang="en-IN" sz="3400" dirty="0"/>
          </a:p>
          <a:p>
            <a:r>
              <a:rPr lang="en-IN" sz="3400" dirty="0"/>
              <a:t>Blocks unsafe queries</a:t>
            </a:r>
          </a:p>
          <a:p>
            <a:r>
              <a:rPr lang="en-IN" sz="3400" dirty="0"/>
              <a:t>Only allows </a:t>
            </a:r>
            <a:r>
              <a:rPr lang="en-IN" sz="3400" b="1" dirty="0"/>
              <a:t>SELECT</a:t>
            </a:r>
            <a:r>
              <a:rPr lang="en-IN" sz="3400" dirty="0"/>
              <a:t> queries</a:t>
            </a:r>
          </a:p>
          <a:p>
            <a:r>
              <a:rPr lang="en-IN" sz="3400" dirty="0"/>
              <a:t>Prevents DROP/DELETE/UPDATE/ALTER/INSERT/CREATE</a:t>
            </a:r>
          </a:p>
          <a:p>
            <a:r>
              <a:rPr lang="en-IN" sz="3400" b="1" dirty="0"/>
              <a:t>3. </a:t>
            </a:r>
            <a:r>
              <a:rPr lang="en-IN" sz="3400" b="1" dirty="0" err="1"/>
              <a:t>SQLExecutionAgent</a:t>
            </a:r>
            <a:endParaRPr lang="en-IN" sz="3400" dirty="0"/>
          </a:p>
          <a:p>
            <a:r>
              <a:rPr lang="en-IN" sz="3400" dirty="0"/>
              <a:t>Executes validated SQL in </a:t>
            </a:r>
            <a:r>
              <a:rPr lang="en-IN" sz="3400" dirty="0" err="1"/>
              <a:t>DuckDB</a:t>
            </a:r>
            <a:endParaRPr lang="en-IN" sz="3400" dirty="0"/>
          </a:p>
          <a:p>
            <a:r>
              <a:rPr lang="en-IN" sz="3400" dirty="0"/>
              <a:t>Returns clean, formatted data back to the UI</a:t>
            </a:r>
          </a:p>
          <a:p>
            <a:r>
              <a:rPr lang="en-IN" sz="3400" b="1" dirty="0"/>
              <a:t>Capabilities:</a:t>
            </a:r>
            <a:endParaRPr lang="en-IN" sz="3400" dirty="0"/>
          </a:p>
          <a:p>
            <a:r>
              <a:rPr lang="en-IN" sz="3400" dirty="0"/>
              <a:t>Fuzzy logic for messy retail data</a:t>
            </a:r>
          </a:p>
          <a:p>
            <a:r>
              <a:rPr lang="en-IN" sz="3400" dirty="0"/>
              <a:t>Filters and  aggregations</a:t>
            </a:r>
          </a:p>
          <a:p>
            <a:r>
              <a:rPr lang="en-IN" sz="3400" dirty="0"/>
              <a:t>Instant tabular and json results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322</Words>
  <Application>Microsoft Office PowerPoint</Application>
  <PresentationFormat>On-screen Show (4:3)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System Overview</vt:lpstr>
      <vt:lpstr>Data Pipeline Architecture</vt:lpstr>
      <vt:lpstr>Summarization Mode</vt:lpstr>
      <vt:lpstr>Conversational Q&amp;A Mode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Nisrin Dhoondia</cp:lastModifiedBy>
  <cp:revision>4</cp:revision>
  <dcterms:created xsi:type="dcterms:W3CDTF">2013-01-27T09:14:16Z</dcterms:created>
  <dcterms:modified xsi:type="dcterms:W3CDTF">2025-12-01T11:06:30Z</dcterms:modified>
  <cp:category/>
</cp:coreProperties>
</file>